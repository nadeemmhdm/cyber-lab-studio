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2A7FF"/>
                </a:solidFill>
                <a:latin typeface="Aptos"/>
              </a:rPr>
              <a:t>CYBERLAB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5F7FB"/>
                </a:solidFill>
                <a:latin typeface="Aptos"/>
              </a:rPr>
              <a:t>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1952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A8B3C5"/>
                </a:solidFill>
                <a:latin typeface="Aptos"/>
              </a:rPr>
              <a:t>Complete Lab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96896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FD6A8"/>
                </a:solidFill>
                <a:latin typeface="Aptos"/>
              </a:rPr>
              <a:t>Release v1.0.0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03320"/>
            <a:ext cx="1874519" cy="14173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3886200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858768"/>
            <a:ext cx="137159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versioned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343400"/>
            <a:ext cx="14173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2A7FF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703320"/>
            <a:ext cx="1874519" cy="14173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53512" y="388620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1" y="3858768"/>
            <a:ext cx="137159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guided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1" y="4343400"/>
            <a:ext cx="14173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5FD6A8"/>
                </a:solidFill>
                <a:latin typeface="Aptos"/>
              </a:rPr>
              <a:t>120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3703320"/>
            <a:ext cx="1874519" cy="14173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56631" y="3886200"/>
            <a:ext cx="73152" cy="457200"/>
          </a:xfrm>
          <a:prstGeom prst="roundRect">
            <a:avLst/>
          </a:prstGeom>
          <a:solidFill>
            <a:srgbClr val="FFB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9512" y="3858768"/>
            <a:ext cx="137159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progressive hints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4343400"/>
            <a:ext cx="14173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B56B"/>
                </a:solidFill>
                <a:latin typeface="Aptos"/>
              </a:rPr>
              <a:t>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B"/>
                </a:solidFill>
                <a:latin typeface="Aptos"/>
              </a:rPr>
              <a:t>Hands-on cloud-security training with isolated learner state, real validation workflows, and role-based administration.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37960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A8B3C5"/>
                </a:solidFill>
                <a:latin typeface="Aptos"/>
              </a:rPr>
              <a:t>CYBERLAB STUDIO PRO  •  v1.0.0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37960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A8B3C5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B"/>
                </a:solidFill>
                <a:latin typeface="Aptos"/>
              </a:rP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8B3C5"/>
                </a:solidFill>
                <a:latin typeface="Aptos"/>
              </a:rPr>
              <a:t>One application, six learning domains, isolated state per learner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005840" cy="54864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A8B3C5"/>
                </a:solidFill>
                <a:latin typeface="Aptos"/>
              </a:rPr>
              <a:t>CYBERLAB STUDIO PRO  •  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A8B3C5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383280" cy="1627632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783080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5564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Cloud fundamentals  ·  Labs 01–02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194560"/>
            <a:ext cx="288036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shared responsibility + IAM reasoning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00200"/>
            <a:ext cx="3383280" cy="1627632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1" y="178308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175564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AWS-compatible  ·  03–18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194560"/>
            <a:ext cx="288036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IAM, VPC, EC2, storage, exposure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3383280" cy="1627632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48471" y="1783080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175564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Azure-compatible  ·  19–22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194560"/>
            <a:ext cx="288036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Entra, RBAC, network, storage, VM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66160"/>
            <a:ext cx="3383280" cy="1627632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0392" y="3749039"/>
            <a:ext cx="73152" cy="457200"/>
          </a:xfrm>
          <a:prstGeom prst="roundRect">
            <a:avLst/>
          </a:prstGeom>
          <a:solidFill>
            <a:srgbClr val="FFB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" y="372160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Sentinel  ·  23–24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4160520"/>
            <a:ext cx="288036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SIEM, detection, incident workflows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66160"/>
            <a:ext cx="3383280" cy="1627632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9431" y="3749039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372160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KQL  ·  25–26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2312" y="4160520"/>
            <a:ext cx="288036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query language + investigations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3566160"/>
            <a:ext cx="3383280" cy="1627632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48471" y="3749039"/>
            <a:ext cx="73152" cy="457200"/>
          </a:xfrm>
          <a:prstGeom prst="roundRect">
            <a:avLst/>
          </a:prstGeom>
          <a:solidFill>
            <a:srgbClr val="FF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372160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Defender XDR  ·  27–30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4160520"/>
            <a:ext cx="288036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incident correlation +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B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8B3C5"/>
                </a:solidFill>
                <a:latin typeface="Aptos"/>
              </a:rPr>
              <a:t>Server-controlled trust boundaries; no host-shell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005840" cy="54864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A8B3C5"/>
                </a:solidFill>
                <a:latin typeface="Aptos"/>
              </a:rPr>
              <a:t>CYBERLAB STUDIO PRO  •  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A8B3C5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2029968" cy="132588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103120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75688"/>
            <a:ext cx="1527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14600"/>
            <a:ext cx="1527048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Next.js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248716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8B3C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1920240"/>
            <a:ext cx="2029968" cy="132588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99232" y="2103120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1" y="2075688"/>
            <a:ext cx="1527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1" y="2514600"/>
            <a:ext cx="1527048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Firebase + HttpOnly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248716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8B3C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1920240"/>
            <a:ext cx="2029968" cy="132588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30951" y="2103120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13831" y="2075688"/>
            <a:ext cx="1527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1" y="2514600"/>
            <a:ext cx="1527048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RBAC + quotas + rate limits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1" y="248716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8B3C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920240"/>
            <a:ext cx="2029968" cy="132588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62671" y="210312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2075688"/>
            <a:ext cx="1527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Lab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2514600"/>
            <a:ext cx="1527048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Versioned per-user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7192" y="248716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8B3C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1920240"/>
            <a:ext cx="2029968" cy="132588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94392" y="210312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075688"/>
            <a:ext cx="1527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SQLite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77272" y="2514600"/>
            <a:ext cx="1527048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Prisma source of truth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88620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F5F7FB"/>
                </a:solidFill>
                <a:latin typeface="Aptos"/>
              </a:defRPr>
            </a:pPr>
            <a:r>
              <a:t>•  AWS/Azure-style commands mutate only the authenticated learner environment.</a:t>
            </a:r>
          </a:p>
          <a:p>
            <a:pPr>
              <a:spcAft>
                <a:spcPts val="800"/>
              </a:spcAft>
              <a:defRPr sz="1250">
                <a:solidFill>
                  <a:srgbClr val="F5F7FB"/>
                </a:solidFill>
                <a:latin typeface="Aptos"/>
              </a:defRPr>
            </a:pPr>
            <a:r>
              <a:t>•  KQL, Sentinel, and Defender workflows share persisted security datasets and event IDs.</a:t>
            </a:r>
          </a:p>
          <a:p>
            <a:pPr>
              <a:spcAft>
                <a:spcPts val="800"/>
              </a:spcAft>
              <a:defRPr sz="1250">
                <a:solidFill>
                  <a:srgbClr val="F5F7FB"/>
                </a:solidFill>
                <a:latin typeface="Aptos"/>
              </a:defRPr>
            </a:pPr>
            <a:r>
              <a:t>•  Completion, flags, achievements, and privileged administration are server-authorized.</a:t>
            </a:r>
          </a:p>
          <a:p>
            <a:pPr>
              <a:spcAft>
                <a:spcPts val="800"/>
              </a:spcAft>
              <a:defRPr sz="1250">
                <a:solidFill>
                  <a:srgbClr val="F5F7FB"/>
                </a:solidFill>
                <a:latin typeface="Aptos"/>
              </a:defRPr>
            </a:pPr>
            <a:r>
              <a:t>•  Production AWS/Azure accounts are not contacted by default.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B"/>
                </a:solidFill>
                <a:latin typeface="Aptos"/>
              </a:rPr>
              <a:t>Identity &amp; account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8B3C5"/>
                </a:solidFill>
                <a:latin typeface="Aptos"/>
              </a:rPr>
              <a:t>Admin-controlled onboarding with optional TOTP MFA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005840" cy="54864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A8B3C5"/>
                </a:solidFill>
                <a:latin typeface="Aptos"/>
              </a:rPr>
              <a:t>CYBERLAB STUDIO PRO  •  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A8B3C5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383280" cy="182880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783080"/>
            <a:ext cx="73152" cy="457200"/>
          </a:xfrm>
          <a:prstGeom prst="roundRect">
            <a:avLst/>
          </a:prstGeom>
          <a:solidFill>
            <a:srgbClr val="FF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5564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Administrator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194560"/>
            <a:ext cx="2880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First-run setup token creates the initial admin. Existing admins provision instructor accounts and manage users.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383280" cy="182880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3712" y="1783080"/>
            <a:ext cx="73152" cy="457200"/>
          </a:xfrm>
          <a:prstGeom prst="roundRect">
            <a:avLst/>
          </a:prstGeom>
          <a:solidFill>
            <a:srgbClr val="FFB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75564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Instructor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194560"/>
            <a:ext cx="2880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Creates seat-limited, expiring enrollment links. Each consumed seat becomes an assigned student account.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383280" cy="182880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7031" y="178308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175564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194560"/>
            <a:ext cx="2880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Opens the instructor link and chooses a username/password. Public student self-signup is disabled.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8620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80">
                <a:solidFill>
                  <a:srgbClr val="F5F7FB"/>
                </a:solidFill>
                <a:latin typeface="Aptos"/>
              </a:defRPr>
            </a:pPr>
            <a:r>
              <a:t>•  Username/email login with persistent attempt cooldown; Firebase abuse controls remain additional protection.</a:t>
            </a:r>
          </a:p>
          <a:p>
            <a:pPr>
              <a:spcAft>
                <a:spcPts val="800"/>
              </a:spcAft>
              <a:defRPr sz="1180">
                <a:solidFill>
                  <a:srgbClr val="F5F7FB"/>
                </a:solidFill>
                <a:latin typeface="Aptos"/>
              </a:defRPr>
            </a:pPr>
            <a:r>
              <a:t>•  Google sign-in and email/password authentication are configured through Firebase.</a:t>
            </a:r>
          </a:p>
          <a:p>
            <a:pPr>
              <a:spcAft>
                <a:spcPts val="800"/>
              </a:spcAft>
              <a:defRPr sz="1180">
                <a:solidFill>
                  <a:srgbClr val="F5F7FB"/>
                </a:solidFill>
                <a:latin typeface="Aptos"/>
              </a:defRPr>
            </a:pPr>
            <a:r>
              <a:t>•  Firebase TOTP 2FA enrollment uses a locally rendered QR; sign-in resolves the real second-factor challenge.</a:t>
            </a:r>
          </a:p>
          <a:p>
            <a:pPr>
              <a:spcAft>
                <a:spcPts val="800"/>
              </a:spcAft>
              <a:defRPr sz="1180">
                <a:solidFill>
                  <a:srgbClr val="F5F7FB"/>
                </a:solidFill>
                <a:latin typeface="Aptos"/>
              </a:defRPr>
            </a:pPr>
            <a:r>
              <a:t>•  Suspension, role checks, and session authorization are enforced server-side.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B"/>
                </a:solidFill>
                <a:latin typeface="Aptos"/>
              </a:rPr>
              <a:t>AWS-compatible lab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8B3C5"/>
                </a:solidFill>
                <a:latin typeface="Aptos"/>
              </a:rPr>
              <a:t>Stateful command workflows with explicit unsupported-operation errors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005840" cy="54864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A8B3C5"/>
                </a:solidFill>
                <a:latin typeface="Aptos"/>
              </a:rPr>
              <a:t>CYBERLAB STUDIO PRO  •  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A8B3C5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07492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783080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556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19456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STS, IAM users/groups/roles, policy evaluation, access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507492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36792" y="178308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7556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19456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VPC, subnets, routes, security groups, NACLs, flow/audit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507492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2" y="3749039"/>
            <a:ext cx="73152" cy="457200"/>
          </a:xfrm>
          <a:prstGeom prst="roundRect">
            <a:avLst/>
          </a:prstGeom>
          <a:solidFill>
            <a:srgbClr val="FFB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72160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416052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EC2 state, metadata, patch posture, tags, role relationships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66160"/>
            <a:ext cx="507492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36792" y="3749039"/>
            <a:ext cx="73152" cy="457200"/>
          </a:xfrm>
          <a:prstGeom prst="roundRect">
            <a:avLst/>
          </a:prstGeom>
          <a:solidFill>
            <a:srgbClr val="FF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72160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16052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S3 buckets/objects, permissions, encryption, EBS/snapshots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150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8B3C5"/>
                </a:solidFill>
                <a:latin typeface="Aptos"/>
              </a:rPr>
              <a:t>Commands are parsed and dispatched inside CyberLab; no learner command is sent to the host shell.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B"/>
                </a:solidFill>
                <a:latin typeface="Aptos"/>
              </a:rPr>
              <a:t>Azure-compatible lab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8B3C5"/>
                </a:solidFill>
                <a:latin typeface="Aptos"/>
              </a:rPr>
              <a:t>Azure CLI-style workflows over isolated learner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005840" cy="54864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A8B3C5"/>
                </a:solidFill>
                <a:latin typeface="Aptos"/>
              </a:rPr>
              <a:t>CYBERLAB STUDIO PRO  •  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A8B3C5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07492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783080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556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Entra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19456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Users, groups, membership, service identities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507492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36792" y="178308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7556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RBAC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19456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Role definitions, assignments, scopes, allow/deny behavior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507492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2" y="3749039"/>
            <a:ext cx="73152" cy="457200"/>
          </a:xfrm>
          <a:prstGeom prst="roundRect">
            <a:avLst/>
          </a:prstGeom>
          <a:solidFill>
            <a:srgbClr val="FFB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72160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Networking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416052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Resource groups, VNets, subnets, NSGs and rule posture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66160"/>
            <a:ext cx="507492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36792" y="3749039"/>
            <a:ext cx="73152" cy="457200"/>
          </a:xfrm>
          <a:prstGeom prst="roundRect">
            <a:avLst/>
          </a:prstGeom>
          <a:solidFill>
            <a:srgbClr val="FF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72160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Storage &amp; VM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16052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Accounts/containers/blobs, VM state, patching,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150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8B3C5"/>
                </a:solidFill>
                <a:latin typeface="Aptos"/>
              </a:rPr>
              <a:t>Activity logs and security findings are derived from persisted environment state, not canned success responses.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B"/>
                </a:solidFill>
                <a:latin typeface="Aptos"/>
              </a:rPr>
              <a:t>KQL, Sentinel &amp; Defender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8B3C5"/>
                </a:solidFill>
                <a:latin typeface="Aptos"/>
              </a:rPr>
              <a:t>One correlated security dataset, multiple investigation surfaces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005840" cy="54864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A8B3C5"/>
                </a:solidFill>
                <a:latin typeface="Aptos"/>
              </a:rPr>
              <a:t>CYBERLAB STUDIO PRO  •  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A8B3C5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3246120" cy="192024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73736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099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KQL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14884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Lexer → parser → AST → type checks → evaluator. Supports filtering, projection, extend, order, take, summarize, distinct, top and aggregates.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1554480"/>
            <a:ext cx="3246120" cy="192024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6864" y="1737360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17099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Microsoft Sentinel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14884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Connectors, stored events, analytics rules, alerts, incidents, entities, notes and duplicate suppression.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246120" cy="192024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94192" y="1737360"/>
            <a:ext cx="73152" cy="457200"/>
          </a:xfrm>
          <a:prstGeom prst="roundRect">
            <a:avLst/>
          </a:prstGeom>
          <a:solidFill>
            <a:srgbClr val="FFB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17099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Defender XDR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14884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Devices, identities, process/network evidence, alerts, incidents, timelines and multi-stage correlation.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6908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5F7FB"/>
                </a:solidFill>
                <a:latin typeface="Aptos"/>
              </a:defRPr>
            </a:pPr>
            <a:r>
              <a:t>•  Shared event IDs connect sign-ins, PowerShell execution, credential access, lateral movement, privilege changes and cloud activity.</a:t>
            </a:r>
          </a:p>
          <a:p>
            <a:pPr>
              <a:spcAft>
                <a:spcPts val="800"/>
              </a:spcAft>
              <a:defRPr sz="1200">
                <a:solidFill>
                  <a:srgbClr val="F5F7FB"/>
                </a:solidFill>
                <a:latin typeface="Aptos"/>
              </a:defRPr>
            </a:pPr>
            <a:r>
              <a:t>•  Detection rules execute KQL over stored rows; alerts/incidents are created from matching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B"/>
                </a:solidFill>
                <a:latin typeface="Aptos"/>
              </a:rPr>
              <a:t>30-lab curriculum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8B3C5"/>
                </a:solidFill>
                <a:latin typeface="Aptos"/>
              </a:rPr>
              <a:t>Progression from foundations to multi-stage incident investigation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005840" cy="54864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A8B3C5"/>
                </a:solidFill>
                <a:latin typeface="Aptos"/>
              </a:rPr>
              <a:t>CYBERLAB STUDIO PRO  •  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A8B3C5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08760"/>
            <a:ext cx="1005840" cy="384048"/>
          </a:xfrm>
          <a:prstGeom prst="round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77339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2A7FF"/>
                </a:solidFill>
                <a:latin typeface="Aptos"/>
              </a:rPr>
              <a:t>01–02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15270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527048"/>
            <a:ext cx="7543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8B3C5"/>
                </a:solidFill>
                <a:latin typeface="Aptos"/>
              </a:rPr>
              <a:t>Responsibility, identity &amp; least privilege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67712"/>
            <a:ext cx="1005840" cy="384048"/>
          </a:xfrm>
          <a:prstGeom prst="round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3629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FD6A8"/>
                </a:solidFill>
                <a:latin typeface="Aptos"/>
              </a:rPr>
              <a:t>03–18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22860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AWS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286000"/>
            <a:ext cx="7543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8B3C5"/>
                </a:solidFill>
                <a:latin typeface="Aptos"/>
              </a:rPr>
              <a:t>Identity → network → compute → storage hardening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026663"/>
            <a:ext cx="1005840" cy="384048"/>
          </a:xfrm>
          <a:prstGeom prst="round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095244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2A7FF"/>
                </a:solidFill>
                <a:latin typeface="Aptos"/>
              </a:rPr>
              <a:t>19–22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3044951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Azure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044951"/>
            <a:ext cx="7543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8B3C5"/>
                </a:solidFill>
                <a:latin typeface="Aptos"/>
              </a:rPr>
              <a:t>Entra/RBAC → network/storage → compute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785615"/>
            <a:ext cx="1005840" cy="384048"/>
          </a:xfrm>
          <a:prstGeom prst="round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854196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B56B"/>
                </a:solidFill>
                <a:latin typeface="Aptos"/>
              </a:rPr>
              <a:t>23–24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3803903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Sentinel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803903"/>
            <a:ext cx="7543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8B3C5"/>
                </a:solidFill>
                <a:latin typeface="Aptos"/>
              </a:rPr>
              <a:t>SIEM fundamentals → detections &amp; incidents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544568"/>
            <a:ext cx="1005840" cy="384048"/>
          </a:xfrm>
          <a:prstGeom prst="round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613148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FD6A8"/>
                </a:solidFill>
                <a:latin typeface="Aptos"/>
              </a:rPr>
              <a:t>25–26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4562855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KQL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562855"/>
            <a:ext cx="7543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8B3C5"/>
                </a:solidFill>
                <a:latin typeface="Aptos"/>
              </a:rPr>
              <a:t>Query fundamentals → security investigations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303519"/>
            <a:ext cx="1005840" cy="384048"/>
          </a:xfrm>
          <a:prstGeom prst="round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372099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8A80"/>
                </a:solidFill>
                <a:latin typeface="Aptos"/>
              </a:rPr>
              <a:t>27–30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321807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Defender XDR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5321807"/>
            <a:ext cx="7543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8B3C5"/>
                </a:solidFill>
                <a:latin typeface="Aptos"/>
              </a:rPr>
              <a:t>Threat detection → execution → privilege → lateral movement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B"/>
                </a:solidFill>
                <a:latin typeface="Aptos"/>
              </a:rPr>
              <a:t>Learning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8B3C5"/>
                </a:solidFill>
                <a:latin typeface="Aptos"/>
              </a:rPr>
              <a:t>Evidence-driven labs with three modes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005840" cy="54864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A8B3C5"/>
                </a:solidFill>
                <a:latin typeface="Aptos"/>
              </a:rPr>
              <a:t>CYBERLAB STUDIO PRO  •  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A8B3C5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383280" cy="160020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783080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5564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Guided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194560"/>
            <a:ext cx="2880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Concepts + tasks + progressive hints + solution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383280" cy="160020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3712" y="178308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75564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194560"/>
            <a:ext cx="2880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Hands-on workflow with policy-controlled guidance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383280" cy="160020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7031" y="1783080"/>
            <a:ext cx="73152" cy="457200"/>
          </a:xfrm>
          <a:prstGeom prst="roundRect">
            <a:avLst/>
          </a:prstGeom>
          <a:solidFill>
            <a:srgbClr val="FFB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175564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194560"/>
            <a:ext cx="2880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Concepts/hints/solution hidden; validation still required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86200"/>
            <a:ext cx="1600200" cy="384048"/>
          </a:xfrm>
          <a:prstGeom prst="roundRect">
            <a:avLst/>
          </a:prstGeom>
          <a:solidFill>
            <a:srgbClr val="0F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54780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5F7FB"/>
                </a:solidFill>
                <a:latin typeface="Aptos"/>
              </a:rPr>
              <a:t>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3968496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8B3C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04872" y="3886200"/>
            <a:ext cx="1600200" cy="384048"/>
          </a:xfrm>
          <a:prstGeom prst="roundRect">
            <a:avLst/>
          </a:prstGeom>
          <a:solidFill>
            <a:srgbClr val="0F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04872" y="3954780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5F7FB"/>
                </a:solidFill>
                <a:latin typeface="Aptos"/>
              </a:rPr>
              <a:t>Explain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968496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8B3C5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886200"/>
            <a:ext cx="1600200" cy="384048"/>
          </a:xfrm>
          <a:prstGeom prst="roundRect">
            <a:avLst/>
          </a:prstGeom>
          <a:solidFill>
            <a:srgbClr val="0F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954780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5F7FB"/>
                </a:solidFill>
                <a:latin typeface="Aptos"/>
              </a:rPr>
              <a:t>Perform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5312" y="3968496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8B3C5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3886200"/>
            <a:ext cx="1600200" cy="384048"/>
          </a:xfrm>
          <a:prstGeom prst="roundRect">
            <a:avLst/>
          </a:prstGeom>
          <a:solidFill>
            <a:srgbClr val="0F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08776" y="3954780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5F7FB"/>
                </a:solidFill>
                <a:latin typeface="Aptos"/>
              </a:rPr>
              <a:t>Verify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7264" y="3968496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8B3C5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0728" y="3886200"/>
            <a:ext cx="1600200" cy="384048"/>
          </a:xfrm>
          <a:prstGeom prst="roundRect">
            <a:avLst/>
          </a:prstGeom>
          <a:solidFill>
            <a:srgbClr val="0F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0728" y="3954780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5F7FB"/>
                </a:solidFill>
                <a:latin typeface="Aptos"/>
              </a:rPr>
              <a:t>Server validate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9216" y="3968496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8B3C5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12680" y="3886200"/>
            <a:ext cx="1600200" cy="384048"/>
          </a:xfrm>
          <a:prstGeom prst="roundRect">
            <a:avLst/>
          </a:prstGeom>
          <a:solidFill>
            <a:srgbClr val="0F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3954780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5F7FB"/>
                </a:solidFill>
                <a:latin typeface="Aptos"/>
              </a:rPr>
              <a:t>Flag + achievement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89204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7FB"/>
                </a:solidFill>
                <a:latin typeface="Aptos"/>
              </a:rPr>
              <a:t>Task progress can reach only 99%. 100% completion is granted transactionally after authenticated server-side validation of persisted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B"/>
                </a:solidFill>
                <a:latin typeface="Aptos"/>
              </a:rPr>
              <a:t>Validation, flags &amp;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8B3C5"/>
                </a:solidFill>
                <a:latin typeface="Aptos"/>
              </a:rPr>
              <a:t>Completion is a server transaction—not a UI checkbox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005840" cy="54864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A8B3C5"/>
                </a:solidFill>
                <a:latin typeface="Aptos"/>
              </a:rPr>
              <a:t>CYBERLAB STUDIO PRO  •  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A8B3C5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487168" cy="146304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783080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55648"/>
            <a:ext cx="1984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validator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240280"/>
            <a:ext cx="20299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2A7FF"/>
                </a:solidFill>
                <a:latin typeface="Aptos"/>
              </a:rPr>
              <a:t>30/30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600200"/>
            <a:ext cx="2487168" cy="146304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78308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1755648"/>
            <a:ext cx="1984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cryptographic flags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2240280"/>
            <a:ext cx="20299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5FD6A8"/>
                </a:solidFill>
                <a:latin typeface="Aptos"/>
              </a:rPr>
              <a:t>Unique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2487168" cy="146304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1" y="1783080"/>
            <a:ext cx="73152" cy="457200"/>
          </a:xfrm>
          <a:prstGeom prst="roundRect">
            <a:avLst/>
          </a:prstGeom>
          <a:solidFill>
            <a:srgbClr val="FFB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755648"/>
            <a:ext cx="1984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completion &amp; flag reuse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240280"/>
            <a:ext cx="20299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B56B"/>
                </a:solidFill>
                <a:latin typeface="Aptos"/>
              </a:rPr>
              <a:t>Idempotent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1600200"/>
            <a:ext cx="2487168" cy="146304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17151" y="1783080"/>
            <a:ext cx="73152" cy="457200"/>
          </a:xfrm>
          <a:prstGeom prst="roundRect">
            <a:avLst/>
          </a:prstGeom>
          <a:solidFill>
            <a:srgbClr val="FF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1755648"/>
            <a:ext cx="1984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achievement definitions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240280"/>
            <a:ext cx="20299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8A80"/>
                </a:solidFill>
                <a:latin typeface="Aptos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57600"/>
            <a:ext cx="10424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5F7FB"/>
                </a:solidFill>
                <a:latin typeface="Aptos"/>
              </a:defRPr>
            </a:pPr>
            <a:r>
              <a:t>•  Failed validation creates no completion and no flag.</a:t>
            </a:r>
          </a:p>
          <a:p>
            <a:pPr>
              <a:spcAft>
                <a:spcPts val="800"/>
              </a:spcAft>
              <a:defRPr sz="1200">
                <a:solidFill>
                  <a:srgbClr val="F5F7FB"/>
                </a:solidFill>
                <a:latin typeface="Aptos"/>
              </a:defRPr>
            </a:pPr>
            <a:r>
              <a:t>•  Two students completing the same lab receive different flags.</a:t>
            </a:r>
          </a:p>
          <a:p>
            <a:pPr>
              <a:spcAft>
                <a:spcPts val="800"/>
              </a:spcAft>
              <a:defRPr sz="1200">
                <a:solidFill>
                  <a:srgbClr val="F5F7FB"/>
                </a:solidFill>
                <a:latin typeface="Aptos"/>
              </a:defRPr>
            </a:pPr>
            <a:r>
              <a:t>•  Verified labs are immutable against reset/task/environment-state mutation paths.</a:t>
            </a:r>
          </a:p>
          <a:p>
            <a:pPr>
              <a:spcAft>
                <a:spcPts val="800"/>
              </a:spcAft>
              <a:defRPr sz="1200">
                <a:solidFill>
                  <a:srgbClr val="F5F7FB"/>
                </a:solidFill>
                <a:latin typeface="Aptos"/>
              </a:defRPr>
            </a:pPr>
            <a:r>
              <a:t>•  Hidden validator internals are not returned to the browser.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B"/>
                </a:solidFill>
                <a:latin typeface="Aptos"/>
              </a:rPr>
              <a:t>Instructor, admin &amp; learner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8B3C5"/>
                </a:solidFill>
                <a:latin typeface="Aptos"/>
              </a:rPr>
              <a:t>Operational workflows for classes and troubleshooting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005840" cy="54864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A8B3C5"/>
                </a:solidFill>
                <a:latin typeface="Aptos"/>
              </a:rPr>
              <a:t>CYBERLAB STUDIO PRO  •  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A8B3C5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3337560" cy="182880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737360"/>
            <a:ext cx="73152" cy="457200"/>
          </a:xfrm>
          <a:prstGeom prst="roundRect">
            <a:avLst/>
          </a:prstGeom>
          <a:solidFill>
            <a:srgbClr val="FFB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09928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Enrollment &amp; cohorts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148840"/>
            <a:ext cx="283463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Instructor specifies seat count + expiry → one link → students choose usernames/passwords → automatic instructor assignment.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554480"/>
            <a:ext cx="3337560" cy="182880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0288" y="173736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09928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Ask a Doubt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148840"/>
            <a:ext cx="283463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Per-lab chat with screen capture/upload, protected screenshot access, instructor replies and status lifecycle.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5592" y="1554480"/>
            <a:ext cx="3337560" cy="182880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30183" y="1737360"/>
            <a:ext cx="73152" cy="457200"/>
          </a:xfrm>
          <a:prstGeom prst="roundRect">
            <a:avLst/>
          </a:prstGeom>
          <a:solidFill>
            <a:srgbClr val="FF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1709928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Admin control center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2148840"/>
            <a:ext cx="283463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Users/roles/suspension, password reset, instructors, curriculum, maintenance, quotas, audit, health, performance and support.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69080"/>
            <a:ext cx="10378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5F7FB"/>
                </a:solidFill>
                <a:latin typeface="Aptos"/>
              </a:defRPr>
            </a:pPr>
            <a:r>
              <a:t>•  Generic support tickets remain private to the reporter; administrators can reply and manage lifecycle.</a:t>
            </a:r>
          </a:p>
          <a:p>
            <a:pPr>
              <a:spcAft>
                <a:spcPts val="800"/>
              </a:spcAft>
              <a:defRPr sz="1200">
                <a:solidFill>
                  <a:srgbClr val="F5F7FB"/>
                </a:solidFill>
                <a:latin typeface="Aptos"/>
              </a:defRPr>
            </a:pPr>
            <a:r>
              <a:t>•  Doubt threads are restricted to the student, assigned instructor, and administrators.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B"/>
                </a:solidFill>
                <a:latin typeface="Aptos"/>
              </a:rPr>
              <a:t>Security, performance &amp;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8B3C5"/>
                </a:solidFill>
                <a:latin typeface="Aptos"/>
              </a:rPr>
              <a:t>Defense-in-depth controls measured in CI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005840" cy="54864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A8B3C5"/>
                </a:solidFill>
                <a:latin typeface="Aptos"/>
              </a:rPr>
              <a:t>CYBERLAB STUDIO PRO  •  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A8B3C5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07492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737360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0992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Web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1488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HttpOnly Strict cookies, CSRF/origin checks, CSP/HSTS, clickjacking/MIME/referrer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07492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36792" y="1737360"/>
            <a:ext cx="73152" cy="457200"/>
          </a:xfrm>
          <a:prstGeom prst="roundRect">
            <a:avLst/>
          </a:prstGeom>
          <a:solidFill>
            <a:srgbClr val="FF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70992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Abuse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1488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Persistent login cooldown, scoped rate limits, request/body limits, maintenance &amp; quotas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20439"/>
            <a:ext cx="507492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2" y="370332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675887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41148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SQLite query profiling, bounded history, performance samples/budgets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07492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36792" y="3703320"/>
            <a:ext cx="73152" cy="457200"/>
          </a:xfrm>
          <a:prstGeom prst="roundRect">
            <a:avLst/>
          </a:prstGeom>
          <a:solidFill>
            <a:srgbClr val="FFB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675887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Accessibility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1148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Keyboard focus, skip link, live feedback, responsive targets, reduced-motion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B"/>
                </a:solidFill>
                <a:latin typeface="Aptos"/>
              </a:rPr>
              <a:t>Windows-first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8B3C5"/>
                </a:solidFill>
                <a:latin typeface="Aptos"/>
              </a:rPr>
              <a:t>Local install, first admin, backup and recovery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005840" cy="54864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A8B3C5"/>
                </a:solidFill>
                <a:latin typeface="Aptos"/>
              </a:rPr>
              <a:t>CYBERLAB STUDIO PRO  •  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A8B3C5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38328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691639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664207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1. Download / clone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10312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GitHub ZIP or git clone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3712" y="1691639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64207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2. Run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10312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windows-setup.ps1 → npm ci + Prisma + seed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08760"/>
            <a:ext cx="338328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7031" y="1691639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1664207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3. Configure Firebase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10312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Web config + Admin credentials + authorized domain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0440"/>
            <a:ext cx="338328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0392" y="370332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" y="367588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4. Provision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411480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/setup + strong one-time setup token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520440"/>
            <a:ext cx="338328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53712" y="370332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367588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5. Start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411480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windows-start.ps1 → production build + server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520440"/>
            <a:ext cx="3383280" cy="16459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57031" y="370332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9912" y="367588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6. Back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2" y="411480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npm run backup before upgrades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B"/>
                </a:solidFill>
                <a:latin typeface="Aptos"/>
              </a:rPr>
              <a:t>Public HTTPS with Cloudflare Tunnel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8B3C5"/>
                </a:solidFill>
                <a:latin typeface="Aptos"/>
              </a:rPr>
              <a:t>Expose only the local web service; keep data/internal ports private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005840" cy="54864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A8B3C5"/>
                </a:solidFill>
                <a:latin typeface="Aptos"/>
              </a:rPr>
              <a:t>CYBERLAB STUDIO PRO  •  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A8B3C5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971800" cy="14173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01168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98424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CyberLab host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423160"/>
            <a:ext cx="2468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Next.js on http://localhost:3000</a:t>
            </a:r>
            <a:br/>
            <a:r>
              <a:t>SQLite remains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3317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A8B3C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2971800" cy="14173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3712" y="2011680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98424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cloudflared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423160"/>
            <a:ext cx="2468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Outbound tunnel</a:t>
            </a:r>
            <a:br/>
            <a:r>
              <a:t>HTTPS edge termination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3317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A8B3C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828800"/>
            <a:ext cx="3383280" cy="141732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57031" y="2011680"/>
            <a:ext cx="73152" cy="457200"/>
          </a:xfrm>
          <a:prstGeom prst="roundRect">
            <a:avLst/>
          </a:prstGeom>
          <a:solidFill>
            <a:srgbClr val="FFB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2" y="1984248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Public hostname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2423160"/>
            <a:ext cx="2880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8B3C5"/>
                </a:solidFill>
                <a:latin typeface="Aptos"/>
              </a:rPr>
              <a:t>https://cyberlab.example.com</a:t>
            </a:r>
            <a:br/>
            <a:r>
              <a:t>Firebase authorized domain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77639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80">
                <a:solidFill>
                  <a:srgbClr val="F5F7FB"/>
                </a:solidFill>
                <a:latin typeface="Aptos"/>
              </a:defRPr>
            </a:pPr>
            <a:r>
              <a:t>•  Route only the web origin; end configuration with a 404 catch-all.</a:t>
            </a:r>
          </a:p>
          <a:p>
            <a:pPr>
              <a:spcAft>
                <a:spcPts val="800"/>
              </a:spcAft>
              <a:defRPr sz="1180">
                <a:solidFill>
                  <a:srgbClr val="F5F7FB"/>
                </a:solidFill>
                <a:latin typeface="Aptos"/>
              </a:defRPr>
            </a:pPr>
            <a:r>
              <a:t>•  Do not expose SQLite, Prisma Studio, filesystem shares or internal development ports.</a:t>
            </a:r>
          </a:p>
          <a:p>
            <a:pPr>
              <a:spcAft>
                <a:spcPts val="800"/>
              </a:spcAft>
              <a:defRPr sz="1180">
                <a:solidFill>
                  <a:srgbClr val="F5F7FB"/>
                </a:solidFill>
                <a:latin typeface="Aptos"/>
              </a:defRPr>
            </a:pPr>
            <a:r>
              <a:t>•  Use Cloudflare Access as an additional perimeter layer for /admin and /setup (optionally /instructor), while keeping CyberLab role checks enabled.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B"/>
                </a:solidFill>
                <a:latin typeface="Aptos"/>
              </a:rPr>
              <a:t>v1.0.0 release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8B3C5"/>
                </a:solidFill>
                <a:latin typeface="Aptos"/>
              </a:rPr>
              <a:t>Repository gates and operator handoff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005840" cy="54864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37960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A8B3C5"/>
                </a:solidFill>
                <a:latin typeface="Aptos"/>
              </a:rPr>
              <a:t>CYBERLAB STUDIO PRO  •  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A8B3C5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487168" cy="146304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783080"/>
            <a:ext cx="73152" cy="457200"/>
          </a:xfrm>
          <a:prstGeom prst="roundRect">
            <a:avLst/>
          </a:prstGeom>
          <a:solidFill>
            <a:srgbClr val="5F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55648"/>
            <a:ext cx="1984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npm audit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240280"/>
            <a:ext cx="20299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5FD6A8"/>
                </a:solidFill>
                <a:latin typeface="Aptos"/>
              </a:rP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600200"/>
            <a:ext cx="2487168" cy="146304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783080"/>
            <a:ext cx="73152" cy="457200"/>
          </a:xfrm>
          <a:prstGeom prst="round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1755648"/>
            <a:ext cx="1984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labs with full solutions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2240280"/>
            <a:ext cx="20299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2A7FF"/>
                </a:solidFill>
                <a:latin typeface="Aptos"/>
              </a:rPr>
              <a:t>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2487168" cy="146304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1" y="1783080"/>
            <a:ext cx="73152" cy="457200"/>
          </a:xfrm>
          <a:prstGeom prst="roundRect">
            <a:avLst/>
          </a:prstGeom>
          <a:solidFill>
            <a:srgbClr val="FFB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755648"/>
            <a:ext cx="1984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isolation E2E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240280"/>
            <a:ext cx="20299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B56B"/>
                </a:solidFill>
                <a:latin typeface="Aptos"/>
              </a:rPr>
              <a:t>2-user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1600200"/>
            <a:ext cx="2487168" cy="146304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26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17151" y="1783080"/>
            <a:ext cx="73152" cy="457200"/>
          </a:xfrm>
          <a:prstGeom prst="roundRect">
            <a:avLst/>
          </a:prstGeom>
          <a:solidFill>
            <a:srgbClr val="FF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1755648"/>
            <a:ext cx="1984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B"/>
                </a:solidFill>
                <a:latin typeface="Aptos"/>
              </a:rPr>
              <a:t>release CI targets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240280"/>
            <a:ext cx="20299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8A80"/>
                </a:solidFill>
                <a:latin typeface="Aptos"/>
              </a:rPr>
              <a:t>Win + Linux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1188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F5F7FB"/>
                </a:solidFill>
                <a:latin typeface="Aptos"/>
              </a:defRPr>
            </a:pPr>
            <a:r>
              <a:t>•  Locked npm install → audit → Prisma schema/seed → lint → TypeScript → unit/integration tests → two-user E2E → release structure check → production build.</a:t>
            </a:r>
          </a:p>
          <a:p>
            <a:pPr>
              <a:spcAft>
                <a:spcPts val="800"/>
              </a:spcAft>
              <a:defRPr sz="1150">
                <a:solidFill>
                  <a:srgbClr val="F5F7FB"/>
                </a:solidFill>
                <a:latin typeface="Aptos"/>
              </a:defRPr>
            </a:pPr>
            <a:r>
              <a:t>•  Windows setup/start scripts, SQLite backup/restore runbook, Cloudflare deployment guide and branch-protection recommendation ship with the repo.</a:t>
            </a:r>
          </a:p>
          <a:p>
            <a:pPr>
              <a:spcAft>
                <a:spcPts val="800"/>
              </a:spcAft>
              <a:defRPr sz="1150">
                <a:solidFill>
                  <a:srgbClr val="F5F7FB"/>
                </a:solidFill>
                <a:latin typeface="Aptos"/>
              </a:defRPr>
            </a:pPr>
            <a:r>
              <a:t>•  Complete DOCX lab manual and this architecture/release deck are linked from README.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FD6A8"/>
                </a:solidFill>
                <a:latin typeface="Aptos"/>
              </a:rPr>
              <a:t>CyberLab Studio Pro v1.0.0 — complete lab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